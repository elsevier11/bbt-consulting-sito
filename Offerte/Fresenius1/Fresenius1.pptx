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F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 FORMATIVO · COPILOT IN MICROSOFT 365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è già disponibile.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" cy="50292"/>
          </a:xfrm>
          <a:prstGeom prst="rect">
            <a:avLst/>
          </a:prstGeom>
          <a:solidFill>
            <a:srgbClr val="2F7FD4"/>
          </a:solidFill>
          <a:ln w="12700">
            <a:solidFill>
              <a:srgbClr val="2F7F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299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8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domanda è come farlo usare davvero.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633472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Avere le licenze non basta. Serve che le persone capiscano cosa possono fare — nei propri contesti, con i propri documenti, nelle proprie giornate.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Zerobyte x Fresenius Kabi Italia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F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"Una sessione generalista su Copilot funziona come uno spettacolo di magia: lascia impressionati, ma con la consapevolezza che sia appunto magia — qualcosa che non entra nei processi quotidiani."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971800"/>
            <a:ext cx="3749040" cy="1463040"/>
          </a:xfrm>
          <a:prstGeom prst="roundRect">
            <a:avLst>
              <a:gd name="adj" fmla="val 75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30906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 generalista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33832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consapevolezza, ma genera poca adozione nei processi quotidiani.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297180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309067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comune + verticali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338328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Copilot nell'uso reale, dentro i processi specifici di ogni funzione.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258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F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sessione comune.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2761488"/>
            <a:ext cx="502920" cy="50292"/>
          </a:xfrm>
          <a:prstGeom prst="rect">
            <a:avLst/>
          </a:prstGeom>
          <a:solidFill>
            <a:srgbClr val="2F7FD4"/>
          </a:solidFill>
          <a:ln w="12700">
            <a:solidFill>
              <a:srgbClr val="2F7F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07792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base per tutti — indipendentemente dalla sede, dal ruolo, dalla funzione. Tre ore a testa, in due slot non consecutivi.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F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LE SEDI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~580 persone. 5 sedi. 12 giornate.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46304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4632" y="1627632"/>
            <a:ext cx="14081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7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84632" y="2697480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" y="3456432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giornate · in presenza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21408" y="146304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1627632"/>
            <a:ext cx="14081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7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194560" y="2697480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 della Scala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3456432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giornate · in presenza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31336" y="146304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04488" y="1627632"/>
            <a:ext cx="14081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7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904488" y="2697480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Mirandola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04488" y="3456432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giornate · in presenza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41264" y="146304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14416" y="1627632"/>
            <a:ext cx="14081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7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614416" y="2697480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Villadose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14416" y="3456432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giornate · in presenza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51192" y="146304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24344" y="1627632"/>
            <a:ext cx="14081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7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324344" y="2697480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Forza vendita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24344" y="3456432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giornata · da definire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7365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~580 persone coinvolte · 12 giornate totali · date da definire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F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 UNA GIORNATA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ore a testa. Non di più.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89888"/>
          <a:ext cx="8138160" cy="2560320"/>
        </p:xfrm>
        <a:graphic>
          <a:graphicData uri="http://schemas.openxmlformats.org/drawingml/2006/table">
            <a:tbl>
              <a:tblPr/>
              <a:tblGrid>
                <a:gridCol w="1280160"/>
                <a:gridCol w="1714500"/>
                <a:gridCol w="1714500"/>
                <a:gridCol w="1714500"/>
                <a:gridCol w="17145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9:00–10:30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11:00–12:30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14:00–15:30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16:00–17:30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Gruppo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7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Capire Copilot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in azione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Gruppo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7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Capire Copilot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in azione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548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Orari indicativi · le date vengono stabilite in accordo con il cliente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F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1 · 90 MINUTI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Capire Copilot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772400" cy="3493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Cos'è Copilot e perché è diverso da ChatGPT e altri strumenti gratuiti</a:t>
            </a:r>
            <a:endParaRPr lang="en-US" sz="155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funziona: logica conversazionale, contesto, memoria di sessione</a:t>
            </a:r>
            <a:endParaRPr lang="en-US" sz="155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Copilot vede e cosa non vede nei tuoi file</a:t>
            </a:r>
            <a:endParaRPr lang="en-US" sz="155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usare lo strumento aziendale invece di quelli esterni</a:t>
            </a:r>
            <a:endParaRPr lang="en-US" sz="155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di un buon prompt: R·C·C·E·V — Ruolo, Contesto, Compito, Esempi, Vincoli di formattazione</a:t>
            </a:r>
            <a:endParaRPr lang="en-US" sz="155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umana: perché rimane sempre necessaria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2 · 90 MINUTI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in azione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77724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pPr indent="0" marL="0">
              <a:spcAft>
                <a:spcPts val="2200"/>
              </a:spcAft>
              <a:buNone/>
            </a:pPr>
            <a:r>
              <a:rPr lang="en-US" sz="15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sintesi thread, risposte, cambio tono, estrazione azioni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pPr indent="0" marL="0">
              <a:spcAft>
                <a:spcPts val="2200"/>
              </a:spcAft>
              <a:buNone/>
            </a:pPr>
            <a:r>
              <a:rPr lang="en-US" sz="15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riepilogo riunione, action items, Q&amp;A su trascrizioni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pPr indent="0" marL="0">
              <a:spcAft>
                <a:spcPts val="2200"/>
              </a:spcAft>
              <a:buNone/>
            </a:pPr>
            <a:r>
              <a:rPr lang="en-US" sz="15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bozze, riscrittura, adattamento del registro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pPr indent="0" marL="0">
              <a:spcAft>
                <a:spcPts val="2200"/>
              </a:spcAft>
              <a:buNone/>
            </a:pPr>
            <a:r>
              <a:rPr lang="en-US" sz="15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commento a tabelle, lettura dati in linguaggio naturale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pPr indent="0" marL="0">
              <a:spcAft>
                <a:spcPts val="2200"/>
              </a:spcAft>
              <a:buNone/>
            </a:pPr>
            <a:r>
              <a:rPr lang="en-US" sz="15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sintesi di presentazioni ricevute, estrazione contenuti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 aperte</a:t>
            </a:r>
            <a:pPr indent="0" marL="0">
              <a:spcAft>
                <a:spcPts val="2200"/>
              </a:spcAft>
              <a:buNone/>
            </a:pPr>
            <a:r>
              <a:rPr lang="en-US" sz="15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casi portati dai partecipanti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F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al lavoro —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esempi concreti.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48640" y="2487168"/>
            <a:ext cx="502920" cy="50292"/>
          </a:xfrm>
          <a:prstGeom prst="rect">
            <a:avLst/>
          </a:prstGeom>
          <a:solidFill>
            <a:srgbClr val="2F7FD4"/>
          </a:solidFill>
          <a:ln w="12700">
            <a:solidFill>
              <a:srgbClr val="2F7F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3347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reali, output reali. Ambientati nei contesti di lavoro di Fresenius Kabi.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429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 una catena di mail con il distributore di Verona che va avanti da tre settimane. Ci sono almeno 12 messaggi. Riassumimi i punti chiave, le richieste ancora aperte e il tono complessivo.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34840" y="45720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 DI COPILOT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434840" y="84124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 thread — Distributore Verona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34840" y="1325880"/>
            <a:ext cx="4343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chiave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Discussione aperta su tempistiche di consegna e aggiornamento listini 2026.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Accordo di massima su modalità di pagamento; dettagli ancora da formalizzare.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Richieste aperte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Conferma disponibilità SKU prioritari per Q3.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Proposta scritta per rinnovo contratto annuale.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 complessivo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Collaborativo, con segnali di leggera impazienza sul versante del distributore.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429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 questi bullet point con i risultati del progetto pilota sulla nutrizione parenterale. Trasformali in un paragrafo di sintesi per la relazione trimestrale al management — tono formale, massimo 120 parole.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34840" y="45720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 DI COPILOT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434840" y="84124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Paragrafo generato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34840" y="1325880"/>
            <a:ext cx="4343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 pilota sulla nutrizione parenterale, avviato nel primo trimestre, ha registrato risultati in linea con gli obiettivi prefissati. L'aderenza al protocollo ha raggiunto il 94% nei centri coinvolti, con una riduzione delle complicanze correlate del 18% rispetto al periodo di confronto. I dati raccolti confermano l'efficacia del percorso clinico adottato e supportano l'estensione del programma alle strutture ancora escluse dalla fase sperimentale. Si raccomanda di procedere con la pianificazione della seconda fase entro il prossimo trimestre.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704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F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536192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percorsi verticali.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02920" cy="50292"/>
          </a:xfrm>
          <a:prstGeom prst="rect">
            <a:avLst/>
          </a:prstGeom>
          <a:solidFill>
            <a:srgbClr val="2F7FD4"/>
          </a:solidFill>
          <a:ln w="12700">
            <a:solidFill>
              <a:srgbClr val="2F7F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61488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la sessione comune, moduli di mezza giornata costruiti sui processi reali di ciascuna funzione.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contenuti vengono definiti insieme ai responsabili di funzione — prima di progettare qualsiasi modulo.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F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AREE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Quattro aree prioritarie.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54480"/>
            <a:ext cx="713232" cy="347472"/>
          </a:xfrm>
          <a:prstGeom prst="roundRect">
            <a:avLst>
              <a:gd name="adj" fmla="val 15789"/>
            </a:avLst>
          </a:prstGeom>
          <a:solidFill>
            <a:srgbClr val="2F7FD4"/>
          </a:solidFill>
          <a:ln w="12700">
            <a:solidFill>
              <a:srgbClr val="2F7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5448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AMMIN.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Amministrazione e gestione documentale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984248"/>
            <a:ext cx="3648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 di contratti, estrazione dati da documenti, redazione di comunicazioni formali.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2432304"/>
            <a:ext cx="364845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Esempio: </a:t>
            </a:r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"Leggi questo contratto e segnalami le clausole che si discostano dalle nostre condizioni standard."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389888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65192" y="1554480"/>
            <a:ext cx="713232" cy="347472"/>
          </a:xfrm>
          <a:prstGeom prst="roundRect">
            <a:avLst>
              <a:gd name="adj" fmla="val 15789"/>
            </a:avLst>
          </a:prstGeom>
          <a:solidFill>
            <a:srgbClr val="2F7FD4"/>
          </a:solidFill>
          <a:ln w="12700">
            <a:solidFill>
              <a:srgbClr val="2F7F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55448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760720" y="155448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 comunicazione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65192" y="1984248"/>
            <a:ext cx="3648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Adattamento di testi per canali diversi, sintesi di brief, riscrittura di materiali promozionali.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5192" y="2432304"/>
            <a:ext cx="364845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Esempio: </a:t>
            </a:r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"Adatta questo comunicato stampa per LinkedIn, mantenendo il tono istituzionale ma rendendolo più diretto."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3273552"/>
            <a:ext cx="713232" cy="347472"/>
          </a:xfrm>
          <a:prstGeom prst="roundRect">
            <a:avLst>
              <a:gd name="adj" fmla="val 15789"/>
            </a:avLst>
          </a:prstGeom>
          <a:solidFill>
            <a:srgbClr val="2F7FD4"/>
          </a:solidFill>
          <a:ln w="12700">
            <a:solidFill>
              <a:srgbClr val="2F7F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27355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17320" y="327355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 e supporto commerciale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3703320"/>
            <a:ext cx="3648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Preparazione visite, analisi offerte, gestione obiezioni, simulazione trattative.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4151376"/>
            <a:ext cx="364845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Esempio: </a:t>
            </a:r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"Preparami un'analisi dei punti di forza e debolezza di questa offerta rispetto al competitor."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31089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65192" y="3273552"/>
            <a:ext cx="713232" cy="347472"/>
          </a:xfrm>
          <a:prstGeom prst="roundRect">
            <a:avLst>
              <a:gd name="adj" fmla="val 15789"/>
            </a:avLst>
          </a:prstGeom>
          <a:solidFill>
            <a:srgbClr val="2F7FD4"/>
          </a:solidFill>
          <a:ln w="12700">
            <a:solidFill>
              <a:srgbClr val="2F7F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327355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60720" y="327355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di gestione e analisi dati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65192" y="3703320"/>
            <a:ext cx="3648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Commento a report, lettura di tabelle in linguaggio naturale, sintesi per il management.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65192" y="4151376"/>
            <a:ext cx="364845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Esempio: </a:t>
            </a:r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"Leggi questi dati di budget e dimmi dove ci sono gli scostamenti più significativi rispetto al piano."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REGOLAMENTATE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percorso dedicato per le funzioni soggette a vincoli normativi.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01952"/>
            <a:ext cx="78638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5400">
            <a:solidFill>
              <a:srgbClr val="4A7C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48840"/>
            <a:ext cx="7132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Regulatory Affairs, Quality Assurance, Medical Affairs e Pharmacovigilance sono previsti percorsi dedicati, con contenuti calibrati sui vincoli normativi specifici.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e argomenti vengono definiti congiuntamente dopo il workshop di analisi dei bisogni.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F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 E SUPPORTO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Quello che è incluso.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40233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4813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7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5568" y="1481328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della sessione in PDF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892808"/>
            <a:ext cx="3694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 di riferimento per tutti i partecipanti.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389888"/>
            <a:ext cx="40233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73752" y="14813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7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67528" y="1481328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Scheda "Anatomia di un buon prompt"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73752" y="1892808"/>
            <a:ext cx="3694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R·C·C·E·V in formato tascabile.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40233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259689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7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15568" y="2596896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Raccolta prompt per applicativo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008376"/>
            <a:ext cx="3694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pronti all'uso per Outlook, Teams, Word, Excel, PowerPoint.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505456"/>
            <a:ext cx="40233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73752" y="259689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7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67528" y="2596896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 all'uso corretto di Copilot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73752" y="3008376"/>
            <a:ext cx="3694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Consigli pratici, limiti da conoscere, buone abitudini.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21024"/>
            <a:ext cx="40233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" y="371246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7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5568" y="3712464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di inviare, tre domande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" y="4123944"/>
            <a:ext cx="3694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rapida per la verifica umana degli output.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621024"/>
            <a:ext cx="40233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73752" y="371246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7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67528" y="3712464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Assistenza post-formazione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3752" y="4123944"/>
            <a:ext cx="3694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giorni via mail + 2 sessioni Q&amp;A da remoto.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F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PROSSIMI PASSI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qui a un'organizzazione che usa Copilot davvero.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984248"/>
            <a:ext cx="841248" cy="0"/>
          </a:xfrm>
          <a:prstGeom prst="line">
            <a:avLst/>
          </a:prstGeom>
          <a:noFill/>
          <a:ln w="19050">
            <a:solidFill>
              <a:srgbClr val="E2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70048" y="1984248"/>
            <a:ext cx="841248" cy="0"/>
          </a:xfrm>
          <a:prstGeom prst="line">
            <a:avLst/>
          </a:prstGeom>
          <a:noFill/>
          <a:ln w="19050">
            <a:solidFill>
              <a:srgbClr val="E2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42816" y="1984248"/>
            <a:ext cx="841248" cy="0"/>
          </a:xfrm>
          <a:prstGeom prst="line">
            <a:avLst/>
          </a:prstGeom>
          <a:noFill/>
          <a:ln w="19050">
            <a:solidFill>
              <a:srgbClr val="E2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5584" y="1984248"/>
            <a:ext cx="841248" cy="0"/>
          </a:xfrm>
          <a:prstGeom prst="line">
            <a:avLst/>
          </a:prstGeom>
          <a:noFill/>
          <a:ln w="19050">
            <a:solidFill>
              <a:srgbClr val="E2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664208"/>
            <a:ext cx="694944" cy="694944"/>
          </a:xfrm>
          <a:prstGeom prst="ellipse">
            <a:avLst/>
          </a:prstGeom>
          <a:solidFill>
            <a:srgbClr val="2F7FD4"/>
          </a:solidFill>
          <a:ln w="25400">
            <a:solidFill>
              <a:srgbClr val="2F7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66420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2487168"/>
            <a:ext cx="1527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Allineamento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862072"/>
            <a:ext cx="15270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Incontro conoscitivo, chiarimento obiettivi, date per sede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56816" y="1664208"/>
            <a:ext cx="694944" cy="6949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2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56816" y="166420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47088" y="2487168"/>
            <a:ext cx="1527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47088" y="2862072"/>
            <a:ext cx="15270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Sessioni comuni nelle 5 sedi. 2 Q&amp;A nelle settimane successive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9584" y="1664208"/>
            <a:ext cx="694944" cy="6949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2E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9584" y="166420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19856" y="2487168"/>
            <a:ext cx="1527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19856" y="2862072"/>
            <a:ext cx="15270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Incontro con responsabili di funzione per progettare i verticali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02352" y="1664208"/>
            <a:ext cx="694944" cy="6949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2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166420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92624" y="2487168"/>
            <a:ext cx="1527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92624" y="2862072"/>
            <a:ext cx="15270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Moduli verticali per area aziendale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1664208"/>
            <a:ext cx="694944" cy="694944"/>
          </a:xfrm>
          <a:prstGeom prst="ellipse">
            <a:avLst/>
          </a:prstGeom>
          <a:solidFill>
            <a:srgbClr val="EFF2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166420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65392" y="2487168"/>
            <a:ext cx="1527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Oltre Copilot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65392" y="2862072"/>
            <a:ext cx="15270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 AI personalizzati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B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(orizzonte futuro)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ESEMPIO GIÀ REALE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L'agente tutor per la forza vendita.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strumento calibrato sul contesto di Fresenius Kabi. Il commerciale lo apre prima di una visita e gli chiede: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3931920" cy="804672"/>
          </a:xfrm>
          <a:prstGeom prst="roundRect">
            <a:avLst>
              <a:gd name="adj" fmla="val 1136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176272"/>
            <a:ext cx="36027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C8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"Preparami a presentare un'offerta commerciale per un cliente B2B"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2103120"/>
            <a:ext cx="3931920" cy="804672"/>
          </a:xfrm>
          <a:prstGeom prst="roundRect">
            <a:avLst>
              <a:gd name="adj" fmla="val 1136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73752" y="2176272"/>
            <a:ext cx="36027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C8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"Analizza questa offerta e dimmi come renderla più convincente"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108960"/>
            <a:ext cx="3931920" cy="804672"/>
          </a:xfrm>
          <a:prstGeom prst="roundRect">
            <a:avLst>
              <a:gd name="adj" fmla="val 1136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3182112"/>
            <a:ext cx="36027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C8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"Prepara le risposte alle objezioni più probabili del cliente"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3108960"/>
            <a:ext cx="3931920" cy="804672"/>
          </a:xfrm>
          <a:prstGeom prst="roundRect">
            <a:avLst>
              <a:gd name="adj" fmla="val 1136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3182112"/>
            <a:ext cx="36027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C8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"Simuliamo una trattativa con CFO, Direttore Tecnico o CEO"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formazione è il prerequisito: chi non sa usare Copilot non costruirà mai un agente utile.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Zerobyte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8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Fresenius Kabi Italia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087368" y="3364992"/>
            <a:ext cx="960120" cy="54864"/>
          </a:xfrm>
          <a:prstGeom prst="rect">
            <a:avLst/>
          </a:prstGeom>
          <a:solidFill>
            <a:srgbClr val="2F7FD4"/>
          </a:solidFill>
          <a:ln w="12700">
            <a:solidFill>
              <a:srgbClr val="2F7F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5844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riservato · Giugno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in Microsoft 365 — Percorso Formativo Fresenius Kabi</dc:title>
  <dc:subject>PptxGenJS Presentation</dc:subject>
  <dc:creator>Zerobyte</dc:creator>
  <cp:lastModifiedBy>Zerobyte</cp:lastModifiedBy>
  <cp:revision>1</cp:revision>
  <dcterms:created xsi:type="dcterms:W3CDTF">2026-06-26T13:04:44Z</dcterms:created>
  <dcterms:modified xsi:type="dcterms:W3CDTF">2026-06-26T13:04:44Z</dcterms:modified>
</cp:coreProperties>
</file>